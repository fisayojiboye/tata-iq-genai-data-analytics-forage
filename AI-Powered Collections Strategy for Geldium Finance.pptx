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2.svg" ContentType="image/svg+xml"/>
  <Override PartName="/ppt/media/image4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TT Lakes Neue Bold" panose="02010001040000080307"/>
      <p:bold r:id="rId14"/>
    </p:embeddedFont>
    <p:embeddedFont>
      <p:font typeface="Raleway"/>
      <p:regular r:id="rId15"/>
    </p:embeddedFont>
    <p:embeddedFont>
      <p:font typeface="TT Lakes Neue" panose="02010001040000080307"/>
      <p:regular r:id="rId16"/>
    </p:embeddedFont>
    <p:embeddedFont>
      <p:font typeface="Raleway Semi-Bold"/>
      <p:bold r:id="rId17"/>
    </p:embeddedFont>
    <p:embeddedFont>
      <p:font typeface="Raleway Bold"/>
      <p:bold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20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9.fntdata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jpeg"/><Relationship Id="rId2" Type="http://schemas.openxmlformats.org/officeDocument/2006/relationships/image" Target="../media/image2.sv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svg"/><Relationship Id="rId3" Type="http://schemas.openxmlformats.org/officeDocument/2006/relationships/image" Target="../media/image5.png"/><Relationship Id="rId2" Type="http://schemas.openxmlformats.org/officeDocument/2006/relationships/image" Target="../media/image10.sv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471022"/>
            <a:ext cx="5126886" cy="5033670"/>
          </a:xfrm>
          <a:custGeom>
            <a:avLst/>
            <a:gdLst/>
            <a:ahLst/>
            <a:cxnLst/>
            <a:rect l="l" t="t" r="r" b="b"/>
            <a:pathLst>
              <a:path w="5126886" h="5033670">
                <a:moveTo>
                  <a:pt x="0" y="0"/>
                </a:moveTo>
                <a:lnTo>
                  <a:pt x="5126886" y="0"/>
                </a:lnTo>
                <a:lnTo>
                  <a:pt x="5126886" y="5033670"/>
                </a:lnTo>
                <a:lnTo>
                  <a:pt x="0" y="50336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98981" y="4364604"/>
            <a:ext cx="14601464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5"/>
              </a:lnSpc>
              <a:spcBef>
                <a:spcPct val="0"/>
              </a:spcBef>
            </a:pPr>
            <a:r>
              <a:rPr lang="en-US" sz="4750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POWERED COLLECTION STRATEGY FOR GELDIUM FINANCE</a:t>
            </a:r>
            <a:endParaRPr lang="en-US" sz="4750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88961" y="4037915"/>
            <a:ext cx="2640905" cy="210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60"/>
              </a:lnSpc>
              <a:spcBef>
                <a:spcPct val="0"/>
              </a:spcBef>
            </a:pPr>
            <a:r>
              <a:rPr lang="en-US" sz="15250" b="1">
                <a:solidFill>
                  <a:srgbClr val="84E3F8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AI </a:t>
            </a:r>
            <a:endParaRPr lang="en-US" sz="15250" b="1">
              <a:solidFill>
                <a:srgbClr val="84E3F8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83071" y="6156875"/>
            <a:ext cx="12096325" cy="721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</a:pPr>
            <a:r>
              <a:rPr lang="en-US" sz="25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Reducing Delinquency through Predictive Insights and Responsible Automation</a:t>
            </a:r>
            <a:endParaRPr lang="en-US" sz="255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2705"/>
              </a:lnSpc>
              <a:spcBef>
                <a:spcPct val="0"/>
              </a:spcBef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16175678" y="1560323"/>
            <a:ext cx="1418817" cy="26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PAGE 01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360752" y="4037915"/>
            <a:ext cx="938229" cy="210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60"/>
              </a:lnSpc>
              <a:spcBef>
                <a:spcPct val="0"/>
              </a:spcBef>
            </a:pPr>
            <a:r>
              <a:rPr lang="en-US" sz="15250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-</a:t>
            </a:r>
            <a:endParaRPr lang="en-US" sz="15250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11960" y="8615045"/>
            <a:ext cx="6638290" cy="3270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50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OLUWAFISAYOMI HARRISON AJIBOYE</a:t>
            </a:r>
            <a:endParaRPr lang="en-US" sz="2150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1939" y="8970919"/>
            <a:ext cx="6230243" cy="601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2235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AI TRANSFORMATION CONSULTANT, T</a:t>
            </a:r>
            <a:r>
              <a:rPr lang="en-US" sz="2235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ATA IQ</a:t>
            </a:r>
            <a:endParaRPr lang="en-US" sz="2235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  <a:p>
            <a:pPr algn="l">
              <a:lnSpc>
                <a:spcPts val="237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1275" y="3505200"/>
            <a:ext cx="18246725" cy="3721735"/>
            <a:chOff x="0" y="0"/>
            <a:chExt cx="4922192" cy="980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22192" cy="980189"/>
            </a:xfrm>
            <a:custGeom>
              <a:avLst/>
              <a:gdLst/>
              <a:ahLst/>
              <a:cxnLst/>
              <a:rect l="l" t="t" r="r" b="b"/>
              <a:pathLst>
                <a:path w="4922192" h="980189">
                  <a:moveTo>
                    <a:pt x="0" y="0"/>
                  </a:moveTo>
                  <a:lnTo>
                    <a:pt x="4922192" y="0"/>
                  </a:lnTo>
                  <a:lnTo>
                    <a:pt x="4922192" y="980189"/>
                  </a:lnTo>
                  <a:lnTo>
                    <a:pt x="0" y="980189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922192" cy="951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99665" y="3826061"/>
            <a:ext cx="11556954" cy="3098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7220" lvl="1" indent="-308610" algn="l">
              <a:lnSpc>
                <a:spcPts val="3030"/>
              </a:lnSpc>
              <a:buFont typeface="Arial" panose="020B0604020202020204"/>
              <a:buChar char="•"/>
            </a:pPr>
            <a:r>
              <a:rPr lang="en-US" sz="285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Geldium is experiencing rising credit card delinquency rates</a:t>
            </a:r>
            <a:endParaRPr lang="en-US" sz="285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617220" lvl="1" indent="-308610" algn="l">
              <a:lnSpc>
                <a:spcPts val="3030"/>
              </a:lnSpc>
              <a:buFont typeface="Arial" panose="020B0604020202020204"/>
              <a:buChar char="•"/>
            </a:pPr>
            <a:r>
              <a:rPr lang="en-US" sz="285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Current process: Manual, reactive, and based on historical trends</a:t>
            </a:r>
            <a:endParaRPr lang="en-US" sz="285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617220" lvl="1" indent="-308610" algn="l">
              <a:lnSpc>
                <a:spcPts val="3030"/>
              </a:lnSpc>
              <a:buFont typeface="Arial" panose="020B0604020202020204"/>
              <a:buChar char="•"/>
            </a:pPr>
            <a:r>
              <a:rPr lang="en-US" sz="285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Our Objective: Build an intelligent, adaptive collections system that identifies risk early and recommends the right intervention</a:t>
            </a:r>
            <a:endParaRPr lang="en-US" sz="285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638810" lvl="1" indent="-319405" algn="l">
              <a:lnSpc>
                <a:spcPts val="3135"/>
              </a:lnSpc>
              <a:buFont typeface="Arial" panose="020B0604020202020204"/>
              <a:buChar char="•"/>
            </a:pPr>
            <a:r>
              <a:rPr lang="en-US" sz="295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Key Insight from previous tasks: Missed_Payments and Credit_Utilization are the strongest predictors</a:t>
            </a:r>
            <a:endParaRPr lang="en-US" sz="295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ctr">
              <a:lnSpc>
                <a:spcPts val="3030"/>
              </a:lnSpc>
              <a:spcBef>
                <a:spcPct val="0"/>
              </a:spcBef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8705127" y="2388099"/>
            <a:ext cx="752305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0"/>
              </a:lnSpc>
            </a:pPr>
            <a:r>
              <a:rPr lang="en-US" sz="4615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BUSINESS CHALLENGE</a:t>
            </a:r>
            <a:endParaRPr lang="en-US" sz="4615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  <a:p>
            <a:pPr algn="l">
              <a:lnSpc>
                <a:spcPts val="3830"/>
              </a:lnSpc>
              <a:spcBef>
                <a:spcPct val="0"/>
              </a:spcBef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1544985" y="2378574"/>
            <a:ext cx="7160142" cy="67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0"/>
              </a:lnSpc>
            </a:pPr>
            <a:r>
              <a:rPr lang="en-US" sz="4635" b="1">
                <a:solidFill>
                  <a:srgbClr val="84E3F8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PROJECT OVERVIEW &amp;</a:t>
            </a:r>
            <a:endParaRPr lang="en-US" sz="4635" b="1">
              <a:solidFill>
                <a:srgbClr val="84E3F8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  <a:p>
            <a:pPr algn="l">
              <a:lnSpc>
                <a:spcPts val="540"/>
              </a:lnSpc>
              <a:spcBef>
                <a:spcPct val="0"/>
              </a:spcBef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16175678" y="1560323"/>
            <a:ext cx="1418817" cy="26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PAGE 02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11353" y="1495490"/>
            <a:ext cx="9756040" cy="2447879"/>
          </a:xfrm>
          <a:custGeom>
            <a:avLst/>
            <a:gdLst/>
            <a:ahLst/>
            <a:cxnLst/>
            <a:rect l="l" t="t" r="r" b="b"/>
            <a:pathLst>
              <a:path w="9756040" h="2447879">
                <a:moveTo>
                  <a:pt x="0" y="0"/>
                </a:moveTo>
                <a:lnTo>
                  <a:pt x="9756040" y="0"/>
                </a:lnTo>
                <a:lnTo>
                  <a:pt x="9756040" y="2447879"/>
                </a:lnTo>
                <a:lnTo>
                  <a:pt x="0" y="24478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78018" y="2270283"/>
            <a:ext cx="5228152" cy="936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945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POWERED COLLECTIONS SYSTEM WORKS</a:t>
            </a:r>
            <a:endParaRPr lang="en-US" sz="2945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  <a:p>
            <a:pPr algn="l">
              <a:lnSpc>
                <a:spcPts val="1160"/>
              </a:lnSpc>
              <a:spcBef>
                <a:spcPct val="0"/>
              </a:spcBef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6673391" y="2152734"/>
            <a:ext cx="1399176" cy="105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10"/>
              </a:lnSpc>
              <a:spcBef>
                <a:spcPct val="0"/>
              </a:spcBef>
            </a:pPr>
            <a:r>
              <a:rPr lang="en-US" sz="7555" b="1">
                <a:solidFill>
                  <a:srgbClr val="84E3F8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AI</a:t>
            </a:r>
            <a:endParaRPr lang="en-US" sz="7555" b="1">
              <a:solidFill>
                <a:srgbClr val="84E3F8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75678" y="1560323"/>
            <a:ext cx="1418817" cy="26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PAGE 03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0" y="4192270"/>
            <a:ext cx="18288000" cy="4138295"/>
            <a:chOff x="0" y="0"/>
            <a:chExt cx="4922192" cy="10899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22192" cy="1089960"/>
            </a:xfrm>
            <a:custGeom>
              <a:avLst/>
              <a:gdLst/>
              <a:ahLst/>
              <a:cxnLst/>
              <a:rect l="l" t="t" r="r" b="b"/>
              <a:pathLst>
                <a:path w="4922192" h="1089960">
                  <a:moveTo>
                    <a:pt x="0" y="0"/>
                  </a:moveTo>
                  <a:lnTo>
                    <a:pt x="4922192" y="0"/>
                  </a:lnTo>
                  <a:lnTo>
                    <a:pt x="4922192" y="1089960"/>
                  </a:lnTo>
                  <a:lnTo>
                    <a:pt x="0" y="1089960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4922192" cy="106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425036" y="4418344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0" y="0"/>
                </a:lnTo>
                <a:lnTo>
                  <a:pt x="887220" y="871089"/>
                </a:lnTo>
                <a:lnTo>
                  <a:pt x="0" y="8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8646" y="4839700"/>
            <a:ext cx="283352" cy="26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1.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11939" y="4711100"/>
            <a:ext cx="2857861" cy="30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13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DATA INGESTION</a:t>
            </a:r>
            <a:endParaRPr lang="en-US" sz="2135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11939" y="5153852"/>
            <a:ext cx="3811192" cy="112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</a:pPr>
            <a:r>
              <a:rPr lang="en-US" sz="2060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Real-time customer data (payment history, utilization, credit score, demographics)</a:t>
            </a:r>
            <a:endParaRPr lang="en-US" sz="2060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180"/>
              </a:lnSpc>
              <a:spcBef>
                <a:spcPct val="0"/>
              </a:spcBef>
            </a:pPr>
          </a:p>
        </p:txBody>
      </p:sp>
      <p:sp>
        <p:nvSpPr>
          <p:cNvPr id="13" name="Freeform 13"/>
          <p:cNvSpPr/>
          <p:nvPr/>
        </p:nvSpPr>
        <p:spPr>
          <a:xfrm>
            <a:off x="5182031" y="4813380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0" y="0"/>
                </a:lnTo>
                <a:lnTo>
                  <a:pt x="887220" y="871089"/>
                </a:lnTo>
                <a:lnTo>
                  <a:pt x="0" y="8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625641" y="5147472"/>
            <a:ext cx="283352" cy="26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2.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307376" y="5146645"/>
            <a:ext cx="2762528" cy="30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13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RISK PREDICTION</a:t>
            </a:r>
            <a:endParaRPr lang="en-US" sz="2135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166972" y="5750519"/>
            <a:ext cx="3464907" cy="112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</a:pPr>
            <a:r>
              <a:rPr lang="en-US" sz="2060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Decision Tree model scores each customer’s delinquency probability</a:t>
            </a:r>
            <a:endParaRPr lang="en-US" sz="2060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180"/>
              </a:lnSpc>
              <a:spcBef>
                <a:spcPct val="0"/>
              </a:spcBef>
            </a:pPr>
          </a:p>
        </p:txBody>
      </p:sp>
      <p:sp>
        <p:nvSpPr>
          <p:cNvPr id="17" name="Freeform 17"/>
          <p:cNvSpPr/>
          <p:nvPr/>
        </p:nvSpPr>
        <p:spPr>
          <a:xfrm>
            <a:off x="9631879" y="5015727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0" y="0"/>
                </a:lnTo>
                <a:lnTo>
                  <a:pt x="887220" y="871089"/>
                </a:lnTo>
                <a:lnTo>
                  <a:pt x="0" y="8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075489" y="5442256"/>
            <a:ext cx="283352" cy="26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3.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757224" y="5379842"/>
            <a:ext cx="3811192" cy="30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13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DECISION ENGINE</a:t>
            </a:r>
            <a:endParaRPr lang="en-US" sz="2135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613896" y="5862710"/>
            <a:ext cx="3253497" cy="112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</a:pPr>
            <a:r>
              <a:rPr lang="en-US" sz="2060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Applies business rules + model output to choose best action</a:t>
            </a:r>
            <a:endParaRPr lang="en-US" sz="2060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180"/>
              </a:lnSpc>
              <a:spcBef>
                <a:spcPct val="0"/>
              </a:spcBef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4570167" y="2402433"/>
            <a:ext cx="2390479" cy="4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  <a:spcBef>
                <a:spcPct val="0"/>
              </a:spcBef>
            </a:pPr>
            <a:r>
              <a:rPr lang="en-US" sz="3260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HOW THE</a:t>
            </a:r>
            <a:endParaRPr lang="en-US" sz="3260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767117" y="2125929"/>
            <a:ext cx="610901" cy="10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10"/>
              </a:lnSpc>
              <a:spcBef>
                <a:spcPct val="0"/>
              </a:spcBef>
            </a:pPr>
            <a:r>
              <a:rPr lang="en-US" sz="7555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-</a:t>
            </a:r>
            <a:endParaRPr lang="en-US" sz="7555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3681196" y="5360792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0" y="0"/>
                </a:lnTo>
                <a:lnTo>
                  <a:pt x="887220" y="871089"/>
                </a:lnTo>
                <a:lnTo>
                  <a:pt x="0" y="87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4124806" y="5713044"/>
            <a:ext cx="254420" cy="263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4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663666" y="5703519"/>
            <a:ext cx="3811192" cy="28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5"/>
              </a:lnSpc>
              <a:spcBef>
                <a:spcPct val="0"/>
              </a:spcBef>
            </a:pPr>
            <a:r>
              <a:rPr lang="en-US" sz="203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ACTION &amp; LEARNING LOOP</a:t>
            </a:r>
            <a:endParaRPr lang="en-US" sz="2035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568416" y="6260456"/>
            <a:ext cx="3719584" cy="144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214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Executes intervention (SMS, call, payment plan) and feeds outcome back to improve the model</a:t>
            </a:r>
            <a:endParaRPr lang="en-US" sz="214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27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726170" y="15875"/>
            <a:ext cx="9561830" cy="10278110"/>
            <a:chOff x="0" y="0"/>
            <a:chExt cx="2628967" cy="36332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8967" cy="3633299"/>
            </a:xfrm>
            <a:custGeom>
              <a:avLst/>
              <a:gdLst/>
              <a:ahLst/>
              <a:cxnLst/>
              <a:rect l="l" t="t" r="r" b="b"/>
              <a:pathLst>
                <a:path w="2628967" h="3633299">
                  <a:moveTo>
                    <a:pt x="0" y="0"/>
                  </a:moveTo>
                  <a:lnTo>
                    <a:pt x="2628967" y="0"/>
                  </a:lnTo>
                  <a:lnTo>
                    <a:pt x="2628967" y="3633299"/>
                  </a:lnTo>
                  <a:lnTo>
                    <a:pt x="0" y="3633299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75000"/>
                  </a:srgbClr>
                </a:gs>
                <a:gs pos="100000">
                  <a:srgbClr val="3D6D81">
                    <a:alpha val="7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2628967" cy="3604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1300272" y="3327963"/>
            <a:ext cx="7421720" cy="5573037"/>
          </a:xfrm>
          <a:custGeom>
            <a:avLst/>
            <a:gdLst/>
            <a:ahLst/>
            <a:cxnLst/>
            <a:rect l="l" t="t" r="r" b="b"/>
            <a:pathLst>
              <a:path w="7421720" h="5573037">
                <a:moveTo>
                  <a:pt x="0" y="0"/>
                </a:moveTo>
                <a:lnTo>
                  <a:pt x="7421719" y="0"/>
                </a:lnTo>
                <a:lnTo>
                  <a:pt x="7421719" y="5573036"/>
                </a:lnTo>
                <a:lnTo>
                  <a:pt x="0" y="55730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2925279" y="3122331"/>
            <a:ext cx="4261262" cy="6013018"/>
            <a:chOff x="0" y="0"/>
            <a:chExt cx="660181" cy="9315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181" cy="931574"/>
            </a:xfrm>
            <a:custGeom>
              <a:avLst/>
              <a:gdLst/>
              <a:ahLst/>
              <a:cxnLst/>
              <a:rect l="l" t="t" r="r" b="b"/>
              <a:pathLst>
                <a:path w="660181" h="931574">
                  <a:moveTo>
                    <a:pt x="0" y="0"/>
                  </a:moveTo>
                  <a:lnTo>
                    <a:pt x="660181" y="0"/>
                  </a:lnTo>
                  <a:lnTo>
                    <a:pt x="660181" y="931574"/>
                  </a:lnTo>
                  <a:lnTo>
                    <a:pt x="0" y="931574"/>
                  </a:lnTo>
                  <a:close/>
                </a:path>
              </a:pathLst>
            </a:custGeom>
            <a:blipFill>
              <a:blip r:embed="rId3"/>
              <a:stretch>
                <a:fillRect l="-44072" r="-4407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449807" y="3020120"/>
            <a:ext cx="8475804" cy="448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5"/>
              </a:lnSpc>
              <a:spcBef>
                <a:spcPct val="0"/>
              </a:spcBef>
            </a:pPr>
            <a:r>
              <a:rPr lang="en-US" sz="3135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(AUTONOMOUS VS HUMAN OVERSIGHT)</a:t>
            </a:r>
            <a:endParaRPr lang="en-US" sz="3135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49807" y="2189843"/>
            <a:ext cx="8475804" cy="801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5"/>
              </a:lnSpc>
              <a:spcBef>
                <a:spcPct val="0"/>
              </a:spcBef>
            </a:pPr>
            <a:r>
              <a:rPr lang="en-US" sz="5835" b="1">
                <a:solidFill>
                  <a:srgbClr val="84E3F8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ROLE OF AGENTIC AI</a:t>
            </a:r>
            <a:endParaRPr lang="en-US" sz="5835" b="1">
              <a:solidFill>
                <a:srgbClr val="84E3F8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175678" y="1560323"/>
            <a:ext cx="1418817" cy="26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PAGE 04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683438" y="5409578"/>
            <a:ext cx="3004474" cy="55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201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Daily risk scoring of all customers</a:t>
            </a:r>
            <a:endParaRPr lang="en-US" sz="201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683438" y="5272744"/>
            <a:ext cx="791105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9683438" y="6097896"/>
            <a:ext cx="791105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9683438" y="7067201"/>
            <a:ext cx="791105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9683438" y="7895876"/>
            <a:ext cx="791105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9449807" y="4793881"/>
            <a:ext cx="3661716" cy="249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  <a:spcBef>
                <a:spcPct val="0"/>
              </a:spcBef>
            </a:pPr>
            <a:r>
              <a:rPr lang="en-US" sz="1830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AUTONOMOUS (AGENTIC AI)</a:t>
            </a:r>
            <a:endParaRPr lang="en-US" sz="1830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583505" y="4793881"/>
            <a:ext cx="4342106" cy="25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  <a:spcBef>
                <a:spcPct val="0"/>
              </a:spcBef>
            </a:pPr>
            <a:r>
              <a:rPr lang="en-US" sz="1870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REQUIRES HUMAN OVERSIGHT</a:t>
            </a:r>
            <a:endParaRPr lang="en-US" sz="1870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687709" y="5409578"/>
            <a:ext cx="3004474" cy="82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sz="201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High-impact decisions (e.g., legal escalation)</a:t>
            </a:r>
            <a:endParaRPr lang="en-US" sz="201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135"/>
              </a:lnSpc>
              <a:spcBef>
                <a:spcPct val="0"/>
              </a:spcBef>
            </a:pPr>
          </a:p>
        </p:txBody>
      </p:sp>
      <p:sp>
        <p:nvSpPr>
          <p:cNvPr id="19" name="TextBox 19"/>
          <p:cNvSpPr txBox="1"/>
          <p:nvPr/>
        </p:nvSpPr>
        <p:spPr>
          <a:xfrm>
            <a:off x="13687709" y="6245533"/>
            <a:ext cx="3004474" cy="82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201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Customer complaints or disputes</a:t>
            </a:r>
            <a:endParaRPr lang="en-US" sz="201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135"/>
              </a:lnSpc>
              <a:spcBef>
                <a:spcPct val="0"/>
              </a:spcBef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9683438" y="6245533"/>
            <a:ext cx="3004474" cy="82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201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Sending personalized SMS reminders</a:t>
            </a:r>
            <a:endParaRPr lang="en-US" sz="201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135"/>
              </a:lnSpc>
              <a:spcBef>
                <a:spcPct val="0"/>
              </a:spcBef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9683438" y="7214839"/>
            <a:ext cx="3004474" cy="82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201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Adjusting outreach frequency</a:t>
            </a:r>
            <a:endParaRPr lang="en-US" sz="201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135"/>
              </a:lnSpc>
              <a:spcBef>
                <a:spcPct val="0"/>
              </a:spcBef>
            </a:pPr>
          </a:p>
        </p:txBody>
      </p:sp>
      <p:sp>
        <p:nvSpPr>
          <p:cNvPr id="22" name="TextBox 22"/>
          <p:cNvSpPr txBox="1"/>
          <p:nvPr/>
        </p:nvSpPr>
        <p:spPr>
          <a:xfrm>
            <a:off x="13687709" y="7205314"/>
            <a:ext cx="3004474" cy="82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201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Policy exceptions or hardship approvals</a:t>
            </a:r>
            <a:endParaRPr lang="en-US" sz="201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135"/>
              </a:lnSpc>
              <a:spcBef>
                <a:spcPct val="0"/>
              </a:spcBef>
            </a:pPr>
          </a:p>
        </p:txBody>
      </p:sp>
      <p:sp>
        <p:nvSpPr>
          <p:cNvPr id="23" name="AutoShape 23"/>
          <p:cNvSpPr/>
          <p:nvPr/>
        </p:nvSpPr>
        <p:spPr>
          <a:xfrm>
            <a:off x="9683438" y="8865181"/>
            <a:ext cx="7911057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9683438" y="7972076"/>
            <a:ext cx="3004474" cy="82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201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Learning from repayment outcomes</a:t>
            </a:r>
            <a:endParaRPr lang="en-US" sz="201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135"/>
              </a:lnSpc>
              <a:spcBef>
                <a:spcPct val="0"/>
              </a:spcBef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13687709" y="7972076"/>
            <a:ext cx="3004474" cy="82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  <a:spcBef>
                <a:spcPct val="0"/>
              </a:spcBef>
            </a:pPr>
            <a:r>
              <a:rPr lang="en-US" sz="201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Final approval for new intervention types</a:t>
            </a:r>
            <a:endParaRPr lang="en-US" sz="201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1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09488" y="2520836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1" y="0"/>
                </a:lnTo>
                <a:lnTo>
                  <a:pt x="887221" y="871090"/>
                </a:lnTo>
                <a:lnTo>
                  <a:pt x="0" y="87109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7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2953378" y="3768896"/>
            <a:ext cx="4146166" cy="6629044"/>
          </a:xfrm>
          <a:custGeom>
            <a:avLst/>
            <a:gdLst/>
            <a:ahLst/>
            <a:cxnLst/>
            <a:rect l="l" t="t" r="r" b="b"/>
            <a:pathLst>
              <a:path w="4146166" h="6629044">
                <a:moveTo>
                  <a:pt x="0" y="0"/>
                </a:moveTo>
                <a:lnTo>
                  <a:pt x="4146165" y="0"/>
                </a:lnTo>
                <a:lnTo>
                  <a:pt x="4146165" y="6629044"/>
                </a:lnTo>
                <a:lnTo>
                  <a:pt x="0" y="6629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2403276" y="5267325"/>
            <a:ext cx="5246370" cy="3454914"/>
            <a:chOff x="0" y="0"/>
            <a:chExt cx="812800" cy="5352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535257"/>
            </a:xfrm>
            <a:custGeom>
              <a:avLst/>
              <a:gdLst/>
              <a:ahLst/>
              <a:cxnLst/>
              <a:rect l="l" t="t" r="r" b="b"/>
              <a:pathLst>
                <a:path w="812800" h="535257">
                  <a:moveTo>
                    <a:pt x="0" y="0"/>
                  </a:moveTo>
                  <a:lnTo>
                    <a:pt x="812800" y="0"/>
                  </a:lnTo>
                  <a:lnTo>
                    <a:pt x="812800" y="535257"/>
                  </a:lnTo>
                  <a:lnTo>
                    <a:pt x="0" y="535257"/>
                  </a:lnTo>
                  <a:close/>
                </a:path>
              </a:pathLst>
            </a:custGeom>
            <a:blipFill>
              <a:blip r:embed="rId5"/>
              <a:stretch>
                <a:fillRect t="-15927" b="-112421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711939" y="3958349"/>
            <a:ext cx="7530850" cy="871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5"/>
              </a:lnSpc>
              <a:spcBef>
                <a:spcPct val="0"/>
              </a:spcBef>
            </a:pPr>
            <a:r>
              <a:rPr lang="en-US" sz="6235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AI- GUARDRAILS</a:t>
            </a:r>
            <a:endParaRPr lang="en-US" sz="6235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11939" y="3023849"/>
            <a:ext cx="7047330" cy="95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75"/>
              </a:lnSpc>
              <a:spcBef>
                <a:spcPct val="0"/>
              </a:spcBef>
            </a:pPr>
            <a:r>
              <a:rPr lang="en-US" sz="6960" b="1">
                <a:solidFill>
                  <a:srgbClr val="84E3F8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RESPONSIBLE</a:t>
            </a:r>
            <a:endParaRPr lang="en-US" sz="6960" b="1">
              <a:solidFill>
                <a:srgbClr val="84E3F8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175678" y="1560323"/>
            <a:ext cx="1418817" cy="26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PAGE 05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53098" y="2947649"/>
            <a:ext cx="283352" cy="26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1.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59749" y="2802946"/>
            <a:ext cx="3811192" cy="30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13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FAIRNESS MONITORING:</a:t>
            </a:r>
            <a:endParaRPr lang="en-US" sz="2135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659749" y="3229990"/>
            <a:ext cx="6377190" cy="56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  <a:spcBef>
                <a:spcPct val="0"/>
              </a:spcBef>
            </a:pPr>
            <a:r>
              <a:rPr lang="en-US" sz="2060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Regular audits across age, employment status, and location to detect bias</a:t>
            </a:r>
            <a:endParaRPr lang="en-US" sz="2060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9509488" y="3687201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1" y="0"/>
                </a:lnTo>
                <a:lnTo>
                  <a:pt x="887221" y="871089"/>
                </a:lnTo>
                <a:lnTo>
                  <a:pt x="0" y="87108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7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953098" y="4092883"/>
            <a:ext cx="283352" cy="26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2.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659749" y="4067453"/>
            <a:ext cx="4955189" cy="30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13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EXPLAINABILITY:</a:t>
            </a:r>
            <a:endParaRPr lang="en-US" sz="2135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659749" y="4495905"/>
            <a:ext cx="6377190" cy="56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  <a:spcBef>
                <a:spcPct val="0"/>
              </a:spcBef>
            </a:pPr>
            <a:r>
              <a:rPr lang="en-US" sz="2060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Decision Tree chosen for transparent rules + SHAP values for individual explanations</a:t>
            </a:r>
            <a:endParaRPr lang="en-US" sz="2060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9509488" y="5010335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1" y="0"/>
                </a:lnTo>
                <a:lnTo>
                  <a:pt x="887221" y="871089"/>
                </a:lnTo>
                <a:lnTo>
                  <a:pt x="0" y="87108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7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953098" y="5328522"/>
            <a:ext cx="283352" cy="26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3.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659749" y="5332596"/>
            <a:ext cx="3811192" cy="30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13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HUMAN-IN-THE-LOOP:</a:t>
            </a:r>
            <a:endParaRPr lang="en-US" sz="2135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659749" y="5761048"/>
            <a:ext cx="6377190" cy="56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  <a:spcBef>
                <a:spcPct val="0"/>
              </a:spcBef>
            </a:pPr>
            <a:r>
              <a:rPr lang="en-US" sz="2060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All escalations and hardship cases reviewed by a collections officer</a:t>
            </a:r>
            <a:endParaRPr lang="en-US" sz="2060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36450" y="1896625"/>
            <a:ext cx="8051550" cy="32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  <a:spcBef>
                <a:spcPct val="0"/>
              </a:spcBef>
            </a:pPr>
            <a:r>
              <a:rPr lang="en-US" sz="2445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KEY SAFEGUARDS BUILT INTO THE SYSTEM:</a:t>
            </a:r>
            <a:endParaRPr lang="en-US" sz="2445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9509488" y="7531093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1" y="0"/>
                </a:lnTo>
                <a:lnTo>
                  <a:pt x="887221" y="871089"/>
                </a:lnTo>
                <a:lnTo>
                  <a:pt x="0" y="87108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7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509488" y="6212329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1" y="0"/>
                </a:lnTo>
                <a:lnTo>
                  <a:pt x="887221" y="871089"/>
                </a:lnTo>
                <a:lnTo>
                  <a:pt x="0" y="87108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7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9953098" y="7854943"/>
            <a:ext cx="283352" cy="26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5.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892420" y="6567224"/>
            <a:ext cx="344030" cy="325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0"/>
              </a:lnSpc>
              <a:spcBef>
                <a:spcPct val="0"/>
              </a:spcBef>
            </a:pPr>
            <a:r>
              <a:rPr lang="en-US" sz="2365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4.</a:t>
            </a:r>
            <a:endParaRPr lang="en-US" sz="2365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659749" y="6588369"/>
            <a:ext cx="3811192" cy="30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13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COMPLIANCE:</a:t>
            </a:r>
            <a:endParaRPr lang="en-US" sz="2135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659749" y="7013832"/>
            <a:ext cx="6377190" cy="56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  <a:spcBef>
                <a:spcPct val="0"/>
              </a:spcBef>
            </a:pPr>
            <a:r>
              <a:rPr lang="en-US" sz="2060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Full audit trail of every decision; aligned with regulatory standards (e.g., fair treatment principles)</a:t>
            </a:r>
            <a:endParaRPr lang="en-US" sz="2060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659749" y="7850523"/>
            <a:ext cx="4955189" cy="304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13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CUSTOMER-CENTRIC DESIGN:</a:t>
            </a:r>
            <a:endParaRPr lang="en-US" sz="2135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659749" y="8278975"/>
            <a:ext cx="6377190" cy="56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  <a:spcBef>
                <a:spcPct val="0"/>
              </a:spcBef>
            </a:pPr>
            <a:r>
              <a:rPr lang="en-US" sz="2060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Option for customers to appeal or request manual review</a:t>
            </a:r>
            <a:endParaRPr lang="en-US" sz="2060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50444" y="2459660"/>
            <a:ext cx="5466477" cy="525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3835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CUSTOMER IMPACT</a:t>
            </a:r>
            <a:endParaRPr lang="en-US" sz="3835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802810" y="2459660"/>
            <a:ext cx="6344801" cy="525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3835" b="1">
                <a:solidFill>
                  <a:srgbClr val="84E3F8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EXPECTED BUSINESS &amp;</a:t>
            </a:r>
            <a:endParaRPr lang="en-US" sz="3835" b="1">
              <a:solidFill>
                <a:srgbClr val="84E3F8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175678" y="1560323"/>
            <a:ext cx="1418817" cy="26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PAGE 6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107841" y="3980463"/>
            <a:ext cx="3946014" cy="3874268"/>
          </a:xfrm>
          <a:custGeom>
            <a:avLst/>
            <a:gdLst/>
            <a:ahLst/>
            <a:cxnLst/>
            <a:rect l="l" t="t" r="r" b="b"/>
            <a:pathLst>
              <a:path w="3946014" h="3874268">
                <a:moveTo>
                  <a:pt x="0" y="0"/>
                </a:moveTo>
                <a:lnTo>
                  <a:pt x="3946014" y="0"/>
                </a:lnTo>
                <a:lnTo>
                  <a:pt x="3946014" y="3874268"/>
                </a:lnTo>
                <a:lnTo>
                  <a:pt x="0" y="38742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 rot="0">
            <a:off x="1452149" y="4288897"/>
            <a:ext cx="3257398" cy="3257398"/>
            <a:chOff x="0" y="0"/>
            <a:chExt cx="14840029" cy="14840029"/>
          </a:xfrm>
        </p:grpSpPr>
        <p:sp>
          <p:nvSpPr>
            <p:cNvPr id="7" name="Freeform 7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00BBD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24572" r="-2457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311973" y="4481049"/>
            <a:ext cx="3737504" cy="690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248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BUSINESS OUTCOMES (QUANTITATIVE):</a:t>
            </a:r>
            <a:endParaRPr lang="en-US" sz="2480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063596" y="5419006"/>
            <a:ext cx="4080404" cy="323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6890" lvl="1" indent="-258445" algn="l">
              <a:lnSpc>
                <a:spcPts val="2540"/>
              </a:lnSpc>
              <a:buFont typeface="Arial" panose="020B0604020202020204"/>
              <a:buChar char="•"/>
            </a:pPr>
            <a:r>
              <a:rPr lang="en-US" sz="239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Target: Reduce 30+ day delinquency rate by 12–18% within 6 months</a:t>
            </a:r>
            <a:endParaRPr lang="en-US" sz="239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516890" lvl="1" indent="-258445" algn="l">
              <a:lnSpc>
                <a:spcPts val="2540"/>
              </a:lnSpc>
              <a:buFont typeface="Arial" panose="020B0604020202020204"/>
              <a:buChar char="•"/>
            </a:pPr>
            <a:r>
              <a:rPr lang="en-US" sz="239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Expected cost savings in collections operations</a:t>
            </a:r>
            <a:endParaRPr lang="en-US" sz="239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516890" lvl="1" indent="-258445" algn="l">
              <a:lnSpc>
                <a:spcPts val="2540"/>
              </a:lnSpc>
              <a:buFont typeface="Arial" panose="020B0604020202020204"/>
              <a:buChar char="•"/>
            </a:pPr>
            <a:r>
              <a:rPr lang="en-US" sz="239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Improved recovery rates through timely, personalized interventions</a:t>
            </a:r>
            <a:endParaRPr lang="en-US" sz="239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540"/>
              </a:lnSpc>
              <a:spcBef>
                <a:spcPct val="0"/>
              </a:spcBef>
            </a:pPr>
          </a:p>
        </p:txBody>
      </p:sp>
      <p:sp>
        <p:nvSpPr>
          <p:cNvPr id="12" name="Freeform 12"/>
          <p:cNvSpPr/>
          <p:nvPr/>
        </p:nvSpPr>
        <p:spPr>
          <a:xfrm>
            <a:off x="9649552" y="3980463"/>
            <a:ext cx="3946014" cy="3874268"/>
          </a:xfrm>
          <a:custGeom>
            <a:avLst/>
            <a:gdLst/>
            <a:ahLst/>
            <a:cxnLst/>
            <a:rect l="l" t="t" r="r" b="b"/>
            <a:pathLst>
              <a:path w="3946014" h="3874268">
                <a:moveTo>
                  <a:pt x="0" y="0"/>
                </a:moveTo>
                <a:lnTo>
                  <a:pt x="3946014" y="0"/>
                </a:lnTo>
                <a:lnTo>
                  <a:pt x="3946014" y="3874268"/>
                </a:lnTo>
                <a:lnTo>
                  <a:pt x="0" y="38742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>
            <a:grpSpLocks noChangeAspect="1"/>
          </p:cNvGrpSpPr>
          <p:nvPr/>
        </p:nvGrpSpPr>
        <p:grpSpPr>
          <a:xfrm rot="0">
            <a:off x="9993860" y="4288897"/>
            <a:ext cx="3257398" cy="3257398"/>
            <a:chOff x="0" y="0"/>
            <a:chExt cx="14840029" cy="14840029"/>
          </a:xfrm>
        </p:grpSpPr>
        <p:sp>
          <p:nvSpPr>
            <p:cNvPr id="14" name="Freeform 14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00BBDE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24572" r="-2457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3853684" y="4481049"/>
            <a:ext cx="4009696" cy="690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248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CUSTOMER OUTCOMES (QUALITATIVE):</a:t>
            </a:r>
            <a:endParaRPr lang="en-US" sz="2480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605091" y="5419006"/>
            <a:ext cx="4009696" cy="323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6890" lvl="1" indent="-258445" algn="l">
              <a:lnSpc>
                <a:spcPts val="2540"/>
              </a:lnSpc>
              <a:buFont typeface="Arial" panose="020B0604020202020204"/>
              <a:buChar char="•"/>
            </a:pPr>
            <a:r>
              <a:rPr lang="en-US" sz="239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More supportive and timely assistance instead of aggressive collections</a:t>
            </a:r>
            <a:endParaRPr lang="en-US" sz="239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516890" lvl="1" indent="-258445" algn="l">
              <a:lnSpc>
                <a:spcPts val="2540"/>
              </a:lnSpc>
              <a:buFont typeface="Arial" panose="020B0604020202020204"/>
              <a:buChar char="•"/>
            </a:pPr>
            <a:r>
              <a:rPr lang="en-US" sz="239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Better customer experience and trust</a:t>
            </a:r>
            <a:endParaRPr lang="en-US" sz="239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marL="516890" lvl="1" indent="-258445" algn="l">
              <a:lnSpc>
                <a:spcPts val="2540"/>
              </a:lnSpc>
              <a:buFont typeface="Arial" panose="020B0604020202020204"/>
              <a:buChar char="•"/>
            </a:pPr>
            <a:r>
              <a:rPr lang="en-US" sz="2395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Increased financial literacy through guided payment plans</a:t>
            </a:r>
            <a:endParaRPr lang="en-US" sz="2395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5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74120" y="2407467"/>
            <a:ext cx="6342325" cy="6227010"/>
          </a:xfrm>
          <a:custGeom>
            <a:avLst/>
            <a:gdLst/>
            <a:ahLst/>
            <a:cxnLst/>
            <a:rect l="l" t="t" r="r" b="b"/>
            <a:pathLst>
              <a:path w="6342325" h="6227010">
                <a:moveTo>
                  <a:pt x="0" y="0"/>
                </a:moveTo>
                <a:lnTo>
                  <a:pt x="6342326" y="0"/>
                </a:lnTo>
                <a:lnTo>
                  <a:pt x="6342326" y="6227010"/>
                </a:lnTo>
                <a:lnTo>
                  <a:pt x="0" y="62270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0">
            <a:off x="11080914" y="3336449"/>
            <a:ext cx="4356595" cy="4356595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00BBDE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32961" r="-3296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711939" y="3580967"/>
            <a:ext cx="6011176" cy="87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5"/>
              </a:lnSpc>
              <a:spcBef>
                <a:spcPct val="0"/>
              </a:spcBef>
            </a:pPr>
            <a:r>
              <a:rPr lang="en-US" sz="6325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(NEXT STEPS)</a:t>
            </a:r>
            <a:endParaRPr lang="en-US" sz="6325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11939" y="2949868"/>
            <a:ext cx="8678497" cy="54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5"/>
              </a:lnSpc>
              <a:spcBef>
                <a:spcPct val="0"/>
              </a:spcBef>
            </a:pPr>
            <a:r>
              <a:rPr lang="en-US" sz="3900" b="1">
                <a:solidFill>
                  <a:srgbClr val="84E3F8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IMPLEMENTATION ROADMAP</a:t>
            </a:r>
            <a:endParaRPr lang="en-US" sz="3900" b="1">
              <a:solidFill>
                <a:srgbClr val="84E3F8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175678" y="1560323"/>
            <a:ext cx="1418817" cy="26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PAGE 07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86323" y="4875850"/>
            <a:ext cx="7284546" cy="846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</a:pPr>
            <a:r>
              <a:rPr lang="en-US" sz="2060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Phase 1 (Weeks 1–4): Pilot with high-risk segment (SMS + payment plans)</a:t>
            </a:r>
            <a:endParaRPr lang="en-US" sz="2060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180"/>
              </a:lnSpc>
              <a:spcBef>
                <a:spcPct val="0"/>
              </a:spcBef>
            </a:pPr>
          </a:p>
        </p:txBody>
      </p:sp>
      <p:sp>
        <p:nvSpPr>
          <p:cNvPr id="11" name="Freeform 11"/>
          <p:cNvSpPr/>
          <p:nvPr/>
        </p:nvSpPr>
        <p:spPr>
          <a:xfrm>
            <a:off x="15990108" y="7290349"/>
            <a:ext cx="1789958" cy="1757413"/>
          </a:xfrm>
          <a:custGeom>
            <a:avLst/>
            <a:gdLst/>
            <a:ahLst/>
            <a:cxnLst/>
            <a:rect l="l" t="t" r="r" b="b"/>
            <a:pathLst>
              <a:path w="1789958" h="1757413">
                <a:moveTo>
                  <a:pt x="0" y="0"/>
                </a:moveTo>
                <a:lnTo>
                  <a:pt x="1789957" y="0"/>
                </a:lnTo>
                <a:lnTo>
                  <a:pt x="1789957" y="1757413"/>
                </a:lnTo>
                <a:lnTo>
                  <a:pt x="0" y="17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95851" y="4643657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0" y="0"/>
                </a:lnTo>
                <a:lnTo>
                  <a:pt x="887220" y="871089"/>
                </a:lnTo>
                <a:lnTo>
                  <a:pt x="0" y="87108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7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39461" y="5026142"/>
            <a:ext cx="283352" cy="26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1.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194303" y="5722066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0" y="0"/>
                </a:lnTo>
                <a:lnTo>
                  <a:pt x="887220" y="871090"/>
                </a:lnTo>
                <a:lnTo>
                  <a:pt x="0" y="87109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7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70290" y="6040290"/>
            <a:ext cx="283298" cy="263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2.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12752" y="7318924"/>
            <a:ext cx="268384" cy="247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5"/>
              </a:lnSpc>
              <a:spcBef>
                <a:spcPct val="0"/>
              </a:spcBef>
            </a:pPr>
            <a:r>
              <a:rPr lang="en-US" sz="1845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3.</a:t>
            </a:r>
            <a:endParaRPr lang="en-US" sz="1845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385549" y="6030765"/>
            <a:ext cx="7284546" cy="56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  <a:spcBef>
                <a:spcPct val="0"/>
              </a:spcBef>
            </a:pPr>
            <a:r>
              <a:rPr lang="en-US" sz="2060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Phase 2 (Months 2–3): Expand to full customer base + add agentic learning loop</a:t>
            </a:r>
            <a:endParaRPr lang="en-US" sz="2060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126680" y="6854805"/>
            <a:ext cx="887220" cy="871089"/>
          </a:xfrm>
          <a:custGeom>
            <a:avLst/>
            <a:gdLst/>
            <a:ahLst/>
            <a:cxnLst/>
            <a:rect l="l" t="t" r="r" b="b"/>
            <a:pathLst>
              <a:path w="887220" h="871089">
                <a:moveTo>
                  <a:pt x="0" y="0"/>
                </a:moveTo>
                <a:lnTo>
                  <a:pt x="887220" y="0"/>
                </a:lnTo>
                <a:lnTo>
                  <a:pt x="887220" y="871089"/>
                </a:lnTo>
                <a:lnTo>
                  <a:pt x="0" y="87108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7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351737" y="7155902"/>
            <a:ext cx="7284546" cy="56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  <a:spcBef>
                <a:spcPct val="0"/>
              </a:spcBef>
            </a:pPr>
            <a:r>
              <a:rPr lang="en-US" sz="2060" b="1">
                <a:solidFill>
                  <a:srgbClr val="FFFF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Phase 3 (Month 4+): Continuous monitoring, fairness audits, and model retraining</a:t>
            </a:r>
            <a:endParaRPr lang="en-US" sz="2060" b="1">
              <a:solidFill>
                <a:srgbClr val="FFFFFF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984803" y="-1314334"/>
            <a:ext cx="8318394" cy="13299759"/>
          </a:xfrm>
          <a:custGeom>
            <a:avLst/>
            <a:gdLst/>
            <a:ahLst/>
            <a:cxnLst/>
            <a:rect l="l" t="t" r="r" b="b"/>
            <a:pathLst>
              <a:path w="8318394" h="13299759">
                <a:moveTo>
                  <a:pt x="0" y="0"/>
                </a:moveTo>
                <a:lnTo>
                  <a:pt x="8318394" y="0"/>
                </a:lnTo>
                <a:lnTo>
                  <a:pt x="8318394" y="13299759"/>
                </a:lnTo>
                <a:lnTo>
                  <a:pt x="0" y="1329975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175678" y="1560323"/>
            <a:ext cx="1418817" cy="26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  <a:spcBef>
                <a:spcPct val="0"/>
              </a:spcBef>
            </a:pPr>
            <a:r>
              <a:rPr lang="en-US" sz="1950">
                <a:solidFill>
                  <a:srgbClr val="FFFFFF"/>
                </a:solidFill>
                <a:latin typeface="TT Lakes Neue" panose="02010001040000080307"/>
                <a:ea typeface="TT Lakes Neue" panose="02010001040000080307"/>
                <a:cs typeface="TT Lakes Neue" panose="02010001040000080307"/>
                <a:sym typeface="TT Lakes Neue" panose="02010001040000080307"/>
              </a:rPr>
              <a:t>PAGE 8</a:t>
            </a:r>
            <a:endParaRPr lang="en-US" sz="1950">
              <a:solidFill>
                <a:srgbClr val="FFFFFF"/>
              </a:solidFill>
              <a:latin typeface="TT Lakes Neue" panose="02010001040000080307"/>
              <a:ea typeface="TT Lakes Neue" panose="02010001040000080307"/>
              <a:cs typeface="TT Lakes Neue" panose="02010001040000080307"/>
              <a:sym typeface="TT Lakes Neue" panose="02010001040000080307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595089" y="4598153"/>
            <a:ext cx="5097823" cy="163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5"/>
              </a:lnSpc>
              <a:spcBef>
                <a:spcPct val="0"/>
              </a:spcBef>
            </a:pPr>
            <a:r>
              <a:rPr lang="en-US" sz="11815" b="1">
                <a:solidFill>
                  <a:srgbClr val="FFFFFF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YOU!</a:t>
            </a:r>
            <a:endParaRPr lang="en-US" sz="11815" b="1">
              <a:solidFill>
                <a:srgbClr val="FFFFFF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245623" y="3359600"/>
            <a:ext cx="5796755" cy="163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5"/>
              </a:lnSpc>
              <a:spcBef>
                <a:spcPct val="0"/>
              </a:spcBef>
            </a:pPr>
            <a:r>
              <a:rPr lang="en-US" sz="11815" b="1">
                <a:solidFill>
                  <a:srgbClr val="84E3F8"/>
                </a:solidFill>
                <a:latin typeface="TT Lakes Neue Bold" panose="02010001040000080307"/>
                <a:ea typeface="TT Lakes Neue Bold" panose="02010001040000080307"/>
                <a:cs typeface="TT Lakes Neue Bold" panose="02010001040000080307"/>
                <a:sym typeface="TT Lakes Neue Bold" panose="02010001040000080307"/>
              </a:rPr>
              <a:t>THANK</a:t>
            </a:r>
            <a:endParaRPr lang="en-US" sz="11815" b="1">
              <a:solidFill>
                <a:srgbClr val="84E3F8"/>
              </a:solidFill>
              <a:latin typeface="TT Lakes Neue Bold" panose="02010001040000080307"/>
              <a:ea typeface="TT Lakes Neue Bold" panose="02010001040000080307"/>
              <a:cs typeface="TT Lakes Neue Bold" panose="02010001040000080307"/>
              <a:sym typeface="TT Lakes Neue Bold" panose="0201000104000008030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66982" y="6453937"/>
            <a:ext cx="8754036" cy="106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spcBef>
                <a:spcPct val="0"/>
              </a:spcBef>
            </a:pPr>
            <a:r>
              <a:rPr lang="en-US" sz="25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Building a responsible, adaptive AI collections system that balances risk reduction with customer fairness.</a:t>
            </a:r>
            <a:endParaRPr lang="en-US" sz="255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>
              <a:lnSpc>
                <a:spcPts val="2705"/>
              </a:lnSpc>
              <a:spcBef>
                <a:spcPct val="0"/>
              </a:spcBef>
            </a:pPr>
          </a:p>
        </p:txBody>
      </p:sp>
      <p:sp>
        <p:nvSpPr>
          <p:cNvPr id="7" name="Freeform 7"/>
          <p:cNvSpPr/>
          <p:nvPr/>
        </p:nvSpPr>
        <p:spPr>
          <a:xfrm>
            <a:off x="2494121" y="857710"/>
            <a:ext cx="1789958" cy="1757413"/>
          </a:xfrm>
          <a:custGeom>
            <a:avLst/>
            <a:gdLst/>
            <a:ahLst/>
            <a:cxnLst/>
            <a:rect l="l" t="t" r="r" b="b"/>
            <a:pathLst>
              <a:path w="1789958" h="1757413">
                <a:moveTo>
                  <a:pt x="0" y="0"/>
                </a:moveTo>
                <a:lnTo>
                  <a:pt x="1789958" y="0"/>
                </a:lnTo>
                <a:lnTo>
                  <a:pt x="1789958" y="1757413"/>
                </a:lnTo>
                <a:lnTo>
                  <a:pt x="0" y="1757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2801</Words>
  <Application>WPS Presentation</Application>
  <PresentationFormat>On-screen Show (4:3)</PresentationFormat>
  <Paragraphs>188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TT Lakes Neue Bold</vt:lpstr>
      <vt:lpstr>Raleway</vt:lpstr>
      <vt:lpstr>TT Lakes Neue</vt:lpstr>
      <vt:lpstr>Arial</vt:lpstr>
      <vt:lpstr>Raleway Semi-Bold</vt:lpstr>
      <vt:lpstr>Raleway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AI Technology Presentation</dc:title>
  <dc:creator/>
  <cp:lastModifiedBy>K&amp;K talks K&amp;K talks</cp:lastModifiedBy>
  <cp:revision>2</cp:revision>
  <dcterms:created xsi:type="dcterms:W3CDTF">2006-08-16T00:00:00Z</dcterms:created>
  <dcterms:modified xsi:type="dcterms:W3CDTF">2026-03-27T04:29:51Z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85831675B59244199975CF3D94935777_12</vt:lpwstr>
  </property>
</Properties>
</file>